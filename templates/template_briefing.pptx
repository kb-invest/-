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53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" Type="http://schemas.openxmlformats.org/officeDocument/2006/relationships/image" Target="../media/image15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8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14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40096" y="519379"/>
            <a:ext cx="18013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상업용 부동산 투자 기회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4109314" y="938174"/>
            <a:ext cx="3972154" cy="33339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34763" y="1328623"/>
            <a:ext cx="2731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다봉타워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4785970" y="1938528"/>
            <a:ext cx="2628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매각 제안서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4881067" y="2510028"/>
            <a:ext cx="761695" cy="384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85970" y="2852928"/>
            <a:ext cx="2628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매각가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4176065" y="3195828"/>
            <a:ext cx="38487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35" dirty="0">
                <a:solidFill>
                  <a:srgbClr val="D4A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2,190</a:t>
            </a:r>
            <a:r>
              <a:rPr lang="en-US" sz="27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억원</a:t>
            </a:r>
            <a:endParaRPr lang="en-US" sz="5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4229100" y="4862779"/>
            <a:ext cx="114300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096512" y="4805172"/>
            <a:ext cx="41897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강남구 대치동 890-12 (테헤란로 418)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4240987" y="5224882"/>
            <a:ext cx="10991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오피스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5378501" y="5224882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5547665" y="5224882"/>
            <a:ext cx="10991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선릉역 초역세권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6685178" y="5224882"/>
            <a:ext cx="133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6854342" y="5224882"/>
            <a:ext cx="10991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2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테헤란로 대로변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0" y="5934456"/>
            <a:ext cx="121916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57200" y="6286500"/>
            <a:ext cx="5582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Information Memorandum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76695"/>
            <a:ext cx="6153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This document contains proprietary information and is intended for the exclusive use of the recipient.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0026396" y="6172200"/>
            <a:ext cx="1714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6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KB INVEST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865462" y="6439205"/>
            <a:ext cx="1875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이음프로퍼티 부동산중개법인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0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695" y="1410005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1695" y="571500"/>
            <a:ext cx="15535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건물 정보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838505"/>
            <a:ext cx="20016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건축 개요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448849" y="761695"/>
            <a:ext cx="9912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다봉타워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442448" y="1028700"/>
            <a:ext cx="9966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Dabong Tower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1695" y="1800454"/>
            <a:ext cx="38405" cy="2670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5995" y="1800454"/>
            <a:ext cx="522031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1695" y="2295144"/>
            <a:ext cx="5143500" cy="1209751"/>
          </a:xfrm>
          <a:prstGeom prst="roundRect">
            <a:avLst>
              <a:gd name="adj" fmla="val 4761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9498" y="2542946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162202" y="2667305"/>
            <a:ext cx="1719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76095" y="2542946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소재지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676095" y="2781605"/>
            <a:ext cx="41724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강남구 대치동 890-12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676095" y="3059582"/>
            <a:ext cx="4096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(테헤란로 418)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61695" y="3650285"/>
            <a:ext cx="5143500" cy="1209751"/>
          </a:xfrm>
          <a:prstGeom prst="roundRect">
            <a:avLst>
              <a:gd name="adj" fmla="val 4761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9498" y="3898087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104595" y="4021531"/>
            <a:ext cx="286207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76095" y="3898087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지역지구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676095" y="4135831"/>
            <a:ext cx="41724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일반상업지역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676095" y="4413809"/>
            <a:ext cx="4172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지구단위계획구역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61695" y="5004511"/>
            <a:ext cx="5143500" cy="1209751"/>
          </a:xfrm>
          <a:prstGeom prst="roundRect">
            <a:avLst>
              <a:gd name="adj" fmla="val 4761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09498" y="525231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1147572" y="5375758"/>
            <a:ext cx="200254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76095" y="5252314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준공일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676095" y="5490058"/>
            <a:ext cx="4096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1992년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676095" y="5768035"/>
            <a:ext cx="4172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관리로 최상의 컨디션 유지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61695" y="6358738"/>
            <a:ext cx="5143500" cy="981151"/>
          </a:xfrm>
          <a:prstGeom prst="roundRect">
            <a:avLst>
              <a:gd name="adj" fmla="val 7239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009498" y="6606540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1119226" y="6730898"/>
            <a:ext cx="256946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676095" y="6606540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건물 규모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676095" y="6845198"/>
            <a:ext cx="4096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지상 15층 </a:t>
            </a: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지하 5층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6286500" y="1800454"/>
            <a:ext cx="38405" cy="2670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400800" y="1800454"/>
            <a:ext cx="522031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 및 시설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6286500" y="2295144"/>
            <a:ext cx="5143500" cy="1380744"/>
          </a:xfrm>
          <a:prstGeom prst="roundRect">
            <a:avLst>
              <a:gd name="adj" fmla="val 365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534302" y="2542946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57746" y="2667305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200900" y="2542946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연면적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7200900" y="2781605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13,948</a:t>
            </a: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㎡</a:t>
            </a:r>
            <a:endParaRPr lang="en-US" sz="1800" dirty="0"/>
          </a:p>
        </p:txBody>
      </p:sp>
      <p:sp>
        <p:nvSpPr>
          <p:cNvPr id="43" name="Text 35"/>
          <p:cNvSpPr txBox="1"/>
          <p:nvPr/>
        </p:nvSpPr>
        <p:spPr>
          <a:xfrm>
            <a:off x="7200900" y="3161995"/>
            <a:ext cx="4096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4,219</a:t>
            </a: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6286500" y="3829507"/>
            <a:ext cx="5143500" cy="1380744"/>
          </a:xfrm>
          <a:prstGeom prst="roundRect">
            <a:avLst>
              <a:gd name="adj" fmla="val 365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534302" y="4076395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672377" y="4200754"/>
            <a:ext cx="200254" cy="22860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7200900" y="4076395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대지면적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7200900" y="4315054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1,050</a:t>
            </a: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㎡</a:t>
            </a:r>
            <a:endParaRPr lang="en-US" sz="1800" dirty="0"/>
          </a:p>
        </p:txBody>
      </p:sp>
      <p:sp>
        <p:nvSpPr>
          <p:cNvPr id="49" name="Text 40"/>
          <p:cNvSpPr txBox="1"/>
          <p:nvPr/>
        </p:nvSpPr>
        <p:spPr>
          <a:xfrm>
            <a:off x="7200900" y="4695444"/>
            <a:ext cx="40965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318</a:t>
            </a: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6286500" y="5362956"/>
            <a:ext cx="5143500" cy="1304849"/>
          </a:xfrm>
          <a:prstGeom prst="roundRect">
            <a:avLst>
              <a:gd name="adj" fmla="val 409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6534302" y="5609844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6672377" y="5734202"/>
            <a:ext cx="200254" cy="22860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7200900" y="5609844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주차대수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7200900" y="5848502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</a:t>
            </a: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</a:t>
            </a:r>
            <a:endParaRPr lang="en-US" sz="1800" dirty="0"/>
          </a:p>
        </p:txBody>
      </p:sp>
      <p:sp>
        <p:nvSpPr>
          <p:cNvPr id="55" name="Text 45"/>
          <p:cNvSpPr txBox="1"/>
          <p:nvPr/>
        </p:nvSpPr>
        <p:spPr>
          <a:xfrm>
            <a:off x="7200900" y="6229807"/>
            <a:ext cx="4172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자주식 + 기계식 복합 운영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6286500" y="6819595"/>
            <a:ext cx="5143500" cy="1304849"/>
          </a:xfrm>
          <a:prstGeom prst="roundRect">
            <a:avLst>
              <a:gd name="adj" fmla="val 409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6534302" y="7067398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57746" y="7191756"/>
            <a:ext cx="228600" cy="228600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7200900" y="7067398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승강기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7200900" y="7306056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</a:t>
            </a:r>
            <a:endParaRPr lang="en-US" sz="1800" dirty="0"/>
          </a:p>
        </p:txBody>
      </p:sp>
      <p:sp>
        <p:nvSpPr>
          <p:cNvPr id="61" name="Text 50"/>
          <p:cNvSpPr txBox="1"/>
          <p:nvPr/>
        </p:nvSpPr>
        <p:spPr>
          <a:xfrm>
            <a:off x="7200900" y="7686446"/>
            <a:ext cx="4172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승객용 2대, 비상용 1대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0" y="8695944"/>
            <a:ext cx="121916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457200" y="8858707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INVESTMENT HIGHLIGHTS</a:t>
            </a:r>
            <a:endParaRPr lang="en-US" sz="900" dirty="0"/>
          </a:p>
        </p:txBody>
      </p:sp>
      <p:sp>
        <p:nvSpPr>
          <p:cNvPr id="64" name="Text 53"/>
          <p:cNvSpPr txBox="1"/>
          <p:nvPr/>
        </p:nvSpPr>
        <p:spPr>
          <a:xfrm>
            <a:off x="11296498" y="8858707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02</a:t>
            </a:r>
            <a:endParaRPr lang="en-US" sz="900" dirty="0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12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057961"/>
            <a:ext cx="11048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" y="381305"/>
            <a:ext cx="3038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분석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571500"/>
            <a:ext cx="34509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 분석 및 교통 환경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70287" y="666598"/>
            <a:ext cx="866851" cy="247802"/>
          </a:xfrm>
          <a:prstGeom prst="rect">
            <a:avLst/>
          </a:prstGeom>
          <a:solidFill>
            <a:srgbClr val="1E3A8A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더블 역세권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951769" y="666598"/>
            <a:ext cx="734263" cy="247802"/>
          </a:xfrm>
          <a:prstGeom prst="rect">
            <a:avLst/>
          </a:prstGeom>
          <a:solidFill>
            <a:srgbClr val="78350F"/>
          </a:solidFill>
          <a:ln w="12700">
            <a:solidFill>
              <a:srgbClr val="B4530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DE6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테헤란로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2" b="-12"/>
          <a:stretch/>
        </p:blipFill>
        <p:spPr>
          <a:xfrm>
            <a:off x="571500" y="1304849"/>
            <a:ext cx="4436669" cy="1138428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22150" r="-22150"/>
          <a:stretch/>
        </p:blipFill>
        <p:spPr>
          <a:xfrm>
            <a:off x="800100" y="1540764"/>
            <a:ext cx="228600" cy="1810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1495044"/>
            <a:ext cx="225582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선릉역 도보 3분 (250m)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00100" y="1824228"/>
            <a:ext cx="4096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지하철 2호선(강남 순환)과 수인분당선(경기 남부 연결)이 교차하는 핵심 더블 역세권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2" b="-12"/>
          <a:stretch/>
        </p:blipFill>
        <p:spPr>
          <a:xfrm>
            <a:off x="571500" y="2681021"/>
            <a:ext cx="4436669" cy="1138428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l="-6117" r="-6117"/>
          <a:stretch/>
        </p:blipFill>
        <p:spPr>
          <a:xfrm>
            <a:off x="800100" y="2916936"/>
            <a:ext cx="228600" cy="18105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2872130"/>
            <a:ext cx="195041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테헤란로 50m 대로변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800100" y="3200400"/>
            <a:ext cx="4096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대한민국 오피스 1번지 테헤란로의 우수한 가시성 및 차량 접근성 확보 (이면도로 X)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rcRect t="-12" b="-12"/>
          <a:stretch/>
        </p:blipFill>
        <p:spPr>
          <a:xfrm>
            <a:off x="571500" y="4058107"/>
            <a:ext cx="4436669" cy="1138428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 l="-13131" r="-13131"/>
          <a:stretch/>
        </p:blipFill>
        <p:spPr>
          <a:xfrm>
            <a:off x="800100" y="4293108"/>
            <a:ext cx="228600" cy="18105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43000" y="4248302"/>
            <a:ext cx="227777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강남 비즈니스 벨트 중심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800100" y="4576572"/>
            <a:ext cx="4096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IT, 금융, 컨설팅 등 우량 임차 수요가 가장 풍부한 테헤란로 비즈니스 축의 중심 입지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rcRect t="-12" b="-12"/>
          <a:stretch/>
        </p:blipFill>
        <p:spPr>
          <a:xfrm>
            <a:off x="571500" y="5434279"/>
            <a:ext cx="4436669" cy="1138428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rcRect l="-13131" r="-13131"/>
          <a:stretch/>
        </p:blipFill>
        <p:spPr>
          <a:xfrm>
            <a:off x="800100" y="5670194"/>
            <a:ext cx="228600" cy="181051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143000" y="5624474"/>
            <a:ext cx="189189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주변 대형 개발 호재</a:t>
            </a:r>
            <a:endParaRPr lang="en-US" sz="1400" dirty="0"/>
          </a:p>
        </p:txBody>
      </p:sp>
      <p:sp>
        <p:nvSpPr>
          <p:cNvPr id="25" name="Text 15"/>
          <p:cNvSpPr txBox="1"/>
          <p:nvPr/>
        </p:nvSpPr>
        <p:spPr>
          <a:xfrm>
            <a:off x="800100" y="5952744"/>
            <a:ext cx="4096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현대차 GBC, 국제교류복합지구 등 삼성역 일대 개발의 직접적인 수혜 예상 지역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rcRect t="-4" b="-4"/>
          <a:stretch/>
        </p:blipFill>
        <p:spPr>
          <a:xfrm>
            <a:off x="5389474" y="1304849"/>
            <a:ext cx="6230722" cy="5505602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5398618" y="1314907"/>
            <a:ext cx="6219749" cy="5486400"/>
          </a:xfrm>
          <a:prstGeom prst="roundRect">
            <a:avLst>
              <a:gd name="adj" fmla="val 3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684825" y="1457554"/>
            <a:ext cx="2438705" cy="2438705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23530" y="1457554"/>
            <a:ext cx="2438705" cy="2438705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84825" y="3895344"/>
            <a:ext cx="2438705" cy="2438705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123530" y="3895344"/>
            <a:ext cx="2438705" cy="2438705"/>
          </a:xfrm>
          <a:prstGeom prst="rect">
            <a:avLst/>
          </a:prstGeom>
        </p:spPr>
      </p:pic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684825" y="-981151"/>
            <a:ext cx="2438705" cy="2438705"/>
          </a:xfrm>
          <a:prstGeom prst="rect">
            <a:avLst/>
          </a:prstGeom>
        </p:spPr>
      </p:pic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23530" y="-981151"/>
            <a:ext cx="2438705" cy="2438705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246120" y="1457554"/>
            <a:ext cx="2438705" cy="2438705"/>
          </a:xfrm>
          <a:prstGeom prst="rect">
            <a:avLst/>
          </a:prstGeom>
        </p:spPr>
      </p:pic>
      <p:pic>
        <p:nvPicPr>
          <p:cNvPr id="35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561320" y="1457554"/>
            <a:ext cx="2438705" cy="2438705"/>
          </a:xfrm>
          <a:prstGeom prst="rect">
            <a:avLst/>
          </a:prstGeom>
        </p:spPr>
      </p:pic>
      <p:pic>
        <p:nvPicPr>
          <p:cNvPr id="36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3246120" y="3895344"/>
            <a:ext cx="2438705" cy="2438705"/>
          </a:xfrm>
          <a:prstGeom prst="rect">
            <a:avLst/>
          </a:prstGeom>
        </p:spPr>
      </p:pic>
      <p:pic>
        <p:nvPicPr>
          <p:cNvPr id="37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561320" y="3895344"/>
            <a:ext cx="2438705" cy="2438705"/>
          </a:xfrm>
          <a:prstGeom prst="rect">
            <a:avLst/>
          </a:prstGeom>
        </p:spPr>
      </p:pic>
      <p:pic>
        <p:nvPicPr>
          <p:cNvPr id="38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684825" y="6334049"/>
            <a:ext cx="2438705" cy="2438705"/>
          </a:xfrm>
          <a:prstGeom prst="rect">
            <a:avLst/>
          </a:prstGeom>
        </p:spPr>
      </p:pic>
      <p:pic>
        <p:nvPicPr>
          <p:cNvPr id="39" name="Image 2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123530" y="6334049"/>
            <a:ext cx="2438705" cy="2438705"/>
          </a:xfrm>
          <a:prstGeom prst="rect">
            <a:avLst/>
          </a:prstGeom>
        </p:spPr>
      </p:pic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246120" y="-981151"/>
            <a:ext cx="2438705" cy="2438705"/>
          </a:xfrm>
          <a:prstGeom prst="rect">
            <a:avLst/>
          </a:prstGeom>
        </p:spPr>
      </p:pic>
      <p:pic>
        <p:nvPicPr>
          <p:cNvPr id="41" name="Image 22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0561320" y="-981151"/>
            <a:ext cx="2438705" cy="2438705"/>
          </a:xfrm>
          <a:prstGeom prst="rect">
            <a:avLst/>
          </a:prstGeom>
        </p:spPr>
      </p:pic>
      <p:pic>
        <p:nvPicPr>
          <p:cNvPr id="42" name="Image 2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246120" y="6334049"/>
            <a:ext cx="2438705" cy="2438705"/>
          </a:xfrm>
          <a:prstGeom prst="rect">
            <a:avLst/>
          </a:prstGeom>
        </p:spPr>
      </p:pic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561320" y="6334049"/>
            <a:ext cx="2438705" cy="2438705"/>
          </a:xfrm>
          <a:prstGeom prst="rect">
            <a:avLst/>
          </a:prstGeom>
        </p:spPr>
      </p:pic>
      <p:pic>
        <p:nvPicPr>
          <p:cNvPr id="44" name="Image 25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779569" y="761695"/>
            <a:ext cx="7448702" cy="6581851"/>
          </a:xfrm>
          <a:prstGeom prst="rect">
            <a:avLst/>
          </a:prstGeom>
        </p:spPr>
      </p:pic>
      <p:pic>
        <p:nvPicPr>
          <p:cNvPr id="45" name="Image 26" descr="preencoded.png"/>
          <p:cNvPicPr>
            <a:picLocks noChangeAspect="1"/>
          </p:cNvPicPr>
          <p:nvPr/>
        </p:nvPicPr>
        <p:blipFill>
          <a:blip r:embed="rId26"/>
          <a:srcRect t="-299" b="-299"/>
          <a:stretch/>
        </p:blipFill>
        <p:spPr>
          <a:xfrm>
            <a:off x="10094976" y="3638398"/>
            <a:ext cx="152705" cy="38405"/>
          </a:xfrm>
          <a:prstGeom prst="rect">
            <a:avLst/>
          </a:prstGeom>
        </p:spPr>
      </p:pic>
      <p:pic>
        <p:nvPicPr>
          <p:cNvPr id="46" name="Image 27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0028225" y="3276295"/>
            <a:ext cx="404165" cy="404165"/>
          </a:xfrm>
          <a:prstGeom prst="rect">
            <a:avLst/>
          </a:prstGeom>
        </p:spPr>
      </p:pic>
      <p:pic>
        <p:nvPicPr>
          <p:cNvPr id="47" name="Image 28" descr="preencoded.png"/>
          <p:cNvPicPr>
            <a:picLocks noChangeAspect="1"/>
          </p:cNvPicPr>
          <p:nvPr/>
        </p:nvPicPr>
        <p:blipFill>
          <a:blip r:embed="rId28"/>
          <a:srcRect l="-16667" r="-16667"/>
          <a:stretch/>
        </p:blipFill>
        <p:spPr>
          <a:xfrm>
            <a:off x="10086746" y="3335731"/>
            <a:ext cx="171907" cy="171907"/>
          </a:xfrm>
          <a:prstGeom prst="rect">
            <a:avLst/>
          </a:prstGeom>
        </p:spPr>
      </p:pic>
      <p:pic>
        <p:nvPicPr>
          <p:cNvPr id="48" name="Image 29" descr="preencoded.png"/>
          <p:cNvPicPr>
            <a:picLocks noChangeAspect="1"/>
          </p:cNvPicPr>
          <p:nvPr/>
        </p:nvPicPr>
        <p:blipFill>
          <a:blip r:embed="rId26"/>
          <a:srcRect t="-299" b="-299"/>
          <a:stretch/>
        </p:blipFill>
        <p:spPr>
          <a:xfrm>
            <a:off x="8428025" y="4038905"/>
            <a:ext cx="152705" cy="38405"/>
          </a:xfrm>
          <a:prstGeom prst="rect">
            <a:avLst/>
          </a:prstGeom>
        </p:spPr>
      </p:pic>
      <p:pic>
        <p:nvPicPr>
          <p:cNvPr id="49" name="Image 30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361274" y="3676802"/>
            <a:ext cx="404165" cy="404165"/>
          </a:xfrm>
          <a:prstGeom prst="rect">
            <a:avLst/>
          </a:prstGeom>
        </p:spPr>
      </p:pic>
      <p:pic>
        <p:nvPicPr>
          <p:cNvPr id="50" name="Image 31" descr="preencoded.png"/>
          <p:cNvPicPr>
            <a:picLocks noChangeAspect="1"/>
          </p:cNvPicPr>
          <p:nvPr/>
        </p:nvPicPr>
        <p:blipFill>
          <a:blip r:embed="rId30"/>
          <a:srcRect t="-6250" b="-6250"/>
          <a:stretch/>
        </p:blipFill>
        <p:spPr>
          <a:xfrm>
            <a:off x="8403336" y="3718865"/>
            <a:ext cx="209398" cy="209398"/>
          </a:xfrm>
          <a:prstGeom prst="rect">
            <a:avLst/>
          </a:prstGeom>
        </p:spPr>
      </p:pic>
      <p:pic>
        <p:nvPicPr>
          <p:cNvPr id="51" name="Image 32" descr="preencoded.png"/>
          <p:cNvPicPr>
            <a:picLocks noChangeAspect="1"/>
          </p:cNvPicPr>
          <p:nvPr/>
        </p:nvPicPr>
        <p:blipFill>
          <a:blip r:embed="rId26"/>
          <a:srcRect t="-299" b="-299"/>
          <a:stretch/>
        </p:blipFill>
        <p:spPr>
          <a:xfrm>
            <a:off x="6989674" y="4362602"/>
            <a:ext cx="152705" cy="38405"/>
          </a:xfrm>
          <a:prstGeom prst="rect">
            <a:avLst/>
          </a:prstGeom>
        </p:spPr>
      </p:pic>
      <p:pic>
        <p:nvPicPr>
          <p:cNvPr id="52" name="Image 33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6922922" y="4000500"/>
            <a:ext cx="404165" cy="404165"/>
          </a:xfrm>
          <a:prstGeom prst="rect">
            <a:avLst/>
          </a:prstGeom>
        </p:spPr>
      </p:pic>
      <p:pic>
        <p:nvPicPr>
          <p:cNvPr id="53" name="Image 34" descr="preencoded.png"/>
          <p:cNvPicPr>
            <a:picLocks noChangeAspect="1"/>
          </p:cNvPicPr>
          <p:nvPr/>
        </p:nvPicPr>
        <p:blipFill>
          <a:blip r:embed="rId32"/>
          <a:srcRect l="-7143" r="-7143"/>
          <a:stretch/>
        </p:blipFill>
        <p:spPr>
          <a:xfrm>
            <a:off x="6978701" y="4055364"/>
            <a:ext cx="181051" cy="181051"/>
          </a:xfrm>
          <a:prstGeom prst="rect">
            <a:avLst/>
          </a:prstGeom>
        </p:spPr>
      </p:pic>
      <p:sp>
        <p:nvSpPr>
          <p:cNvPr id="54" name="Shape 17"/>
          <p:cNvSpPr/>
          <p:nvPr/>
        </p:nvSpPr>
        <p:spPr>
          <a:xfrm>
            <a:off x="7999171" y="2903220"/>
            <a:ext cx="1009498" cy="609905"/>
          </a:xfrm>
          <a:prstGeom prst="roundRect">
            <a:avLst>
              <a:gd name="adj" fmla="val 1405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18"/>
          <p:cNvSpPr txBox="1"/>
          <p:nvPr/>
        </p:nvSpPr>
        <p:spPr>
          <a:xfrm>
            <a:off x="8141818" y="3008376"/>
            <a:ext cx="800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다봉타워</a:t>
            </a:r>
            <a:endParaRPr lang="en-US" sz="1000" dirty="0"/>
          </a:p>
        </p:txBody>
      </p:sp>
      <p:sp>
        <p:nvSpPr>
          <p:cNvPr id="56" name="Text 19"/>
          <p:cNvSpPr txBox="1"/>
          <p:nvPr/>
        </p:nvSpPr>
        <p:spPr>
          <a:xfrm>
            <a:off x="8141818" y="3223260"/>
            <a:ext cx="780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매각대상 물건</a:t>
            </a:r>
            <a:endParaRPr lang="en-US" sz="900" dirty="0"/>
          </a:p>
        </p:txBody>
      </p:sp>
      <p:sp>
        <p:nvSpPr>
          <p:cNvPr id="57" name="Shape 20"/>
          <p:cNvSpPr/>
          <p:nvPr/>
        </p:nvSpPr>
        <p:spPr>
          <a:xfrm>
            <a:off x="8423453" y="3400654"/>
            <a:ext cx="161849" cy="161849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21"/>
          <p:cNvSpPr txBox="1"/>
          <p:nvPr/>
        </p:nvSpPr>
        <p:spPr>
          <a:xfrm>
            <a:off x="8801100" y="2922422"/>
            <a:ext cx="191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×</a:t>
            </a:r>
            <a:endParaRPr lang="en-US" sz="1200" dirty="0"/>
          </a:p>
        </p:txBody>
      </p:sp>
      <p:pic>
        <p:nvPicPr>
          <p:cNvPr id="59" name="Image 3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684825" y="1457554"/>
            <a:ext cx="2438705" cy="2438705"/>
          </a:xfrm>
          <a:prstGeom prst="rect">
            <a:avLst/>
          </a:prstGeom>
        </p:spPr>
      </p:pic>
      <p:pic>
        <p:nvPicPr>
          <p:cNvPr id="60" name="Image 3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23530" y="1457554"/>
            <a:ext cx="2438705" cy="2438705"/>
          </a:xfrm>
          <a:prstGeom prst="rect">
            <a:avLst/>
          </a:prstGeom>
        </p:spPr>
      </p:pic>
      <p:pic>
        <p:nvPicPr>
          <p:cNvPr id="61" name="Image 3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84825" y="3895344"/>
            <a:ext cx="2438705" cy="2438705"/>
          </a:xfrm>
          <a:prstGeom prst="rect">
            <a:avLst/>
          </a:prstGeom>
        </p:spPr>
      </p:pic>
      <p:pic>
        <p:nvPicPr>
          <p:cNvPr id="62" name="Image 3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123530" y="3895344"/>
            <a:ext cx="2438705" cy="2438705"/>
          </a:xfrm>
          <a:prstGeom prst="rect">
            <a:avLst/>
          </a:prstGeom>
        </p:spPr>
      </p:pic>
      <p:pic>
        <p:nvPicPr>
          <p:cNvPr id="63" name="Image 3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684825" y="-981151"/>
            <a:ext cx="2438705" cy="2438705"/>
          </a:xfrm>
          <a:prstGeom prst="rect">
            <a:avLst/>
          </a:prstGeom>
        </p:spPr>
      </p:pic>
      <p:pic>
        <p:nvPicPr>
          <p:cNvPr id="64" name="Image 4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23530" y="-981151"/>
            <a:ext cx="2438705" cy="2438705"/>
          </a:xfrm>
          <a:prstGeom prst="rect">
            <a:avLst/>
          </a:prstGeom>
        </p:spPr>
      </p:pic>
      <p:pic>
        <p:nvPicPr>
          <p:cNvPr id="65" name="Image 4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246120" y="1457554"/>
            <a:ext cx="2438705" cy="2438705"/>
          </a:xfrm>
          <a:prstGeom prst="rect">
            <a:avLst/>
          </a:prstGeom>
        </p:spPr>
      </p:pic>
      <p:pic>
        <p:nvPicPr>
          <p:cNvPr id="66" name="Image 4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561320" y="1457554"/>
            <a:ext cx="2438705" cy="2438705"/>
          </a:xfrm>
          <a:prstGeom prst="rect">
            <a:avLst/>
          </a:prstGeom>
        </p:spPr>
      </p:pic>
      <p:pic>
        <p:nvPicPr>
          <p:cNvPr id="67" name="Image 4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3246120" y="3895344"/>
            <a:ext cx="2438705" cy="2438705"/>
          </a:xfrm>
          <a:prstGeom prst="rect">
            <a:avLst/>
          </a:prstGeom>
        </p:spPr>
      </p:pic>
      <p:pic>
        <p:nvPicPr>
          <p:cNvPr id="68" name="Image 44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561320" y="3895344"/>
            <a:ext cx="2438705" cy="2438705"/>
          </a:xfrm>
          <a:prstGeom prst="rect">
            <a:avLst/>
          </a:prstGeom>
        </p:spPr>
      </p:pic>
      <p:pic>
        <p:nvPicPr>
          <p:cNvPr id="69" name="Image 45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684825" y="6334049"/>
            <a:ext cx="2438705" cy="2438705"/>
          </a:xfrm>
          <a:prstGeom prst="rect">
            <a:avLst/>
          </a:prstGeom>
        </p:spPr>
      </p:pic>
      <p:pic>
        <p:nvPicPr>
          <p:cNvPr id="70" name="Image 46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123530" y="6334049"/>
            <a:ext cx="2438705" cy="2438705"/>
          </a:xfrm>
          <a:prstGeom prst="rect">
            <a:avLst/>
          </a:prstGeom>
        </p:spPr>
      </p:pic>
      <p:pic>
        <p:nvPicPr>
          <p:cNvPr id="71" name="Image 47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246120" y="-981151"/>
            <a:ext cx="2438705" cy="2438705"/>
          </a:xfrm>
          <a:prstGeom prst="rect">
            <a:avLst/>
          </a:prstGeom>
        </p:spPr>
      </p:pic>
      <p:pic>
        <p:nvPicPr>
          <p:cNvPr id="72" name="Image 48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0561320" y="-981151"/>
            <a:ext cx="2438705" cy="2438705"/>
          </a:xfrm>
          <a:prstGeom prst="rect">
            <a:avLst/>
          </a:prstGeom>
        </p:spPr>
      </p:pic>
      <p:pic>
        <p:nvPicPr>
          <p:cNvPr id="73" name="Image 49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246120" y="6334049"/>
            <a:ext cx="2438705" cy="2438705"/>
          </a:xfrm>
          <a:prstGeom prst="rect">
            <a:avLst/>
          </a:prstGeom>
        </p:spPr>
      </p:pic>
      <p:pic>
        <p:nvPicPr>
          <p:cNvPr id="74" name="Image 50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561320" y="6334049"/>
            <a:ext cx="2438705" cy="2438705"/>
          </a:xfrm>
          <a:prstGeom prst="rect">
            <a:avLst/>
          </a:prstGeom>
        </p:spPr>
      </p:pic>
      <p:pic>
        <p:nvPicPr>
          <p:cNvPr id="75" name="Image 51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779569" y="761695"/>
            <a:ext cx="7448702" cy="6581851"/>
          </a:xfrm>
          <a:prstGeom prst="rect">
            <a:avLst/>
          </a:prstGeom>
        </p:spPr>
      </p:pic>
      <p:pic>
        <p:nvPicPr>
          <p:cNvPr id="76" name="Image 52" descr="preencoded.png"/>
          <p:cNvPicPr>
            <a:picLocks noChangeAspect="1"/>
          </p:cNvPicPr>
          <p:nvPr/>
        </p:nvPicPr>
        <p:blipFill>
          <a:blip r:embed="rId26"/>
          <a:srcRect t="-299" b="-299"/>
          <a:stretch/>
        </p:blipFill>
        <p:spPr>
          <a:xfrm>
            <a:off x="10094976" y="3638398"/>
            <a:ext cx="152705" cy="38405"/>
          </a:xfrm>
          <a:prstGeom prst="rect">
            <a:avLst/>
          </a:prstGeom>
        </p:spPr>
      </p:pic>
      <p:pic>
        <p:nvPicPr>
          <p:cNvPr id="77" name="Image 53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0028225" y="3276295"/>
            <a:ext cx="404165" cy="404165"/>
          </a:xfrm>
          <a:prstGeom prst="rect">
            <a:avLst/>
          </a:prstGeom>
        </p:spPr>
      </p:pic>
      <p:pic>
        <p:nvPicPr>
          <p:cNvPr id="78" name="Image 54" descr="preencoded.png"/>
          <p:cNvPicPr>
            <a:picLocks noChangeAspect="1"/>
          </p:cNvPicPr>
          <p:nvPr/>
        </p:nvPicPr>
        <p:blipFill>
          <a:blip r:embed="rId28"/>
          <a:srcRect l="-16667" r="-16667"/>
          <a:stretch/>
        </p:blipFill>
        <p:spPr>
          <a:xfrm>
            <a:off x="10086746" y="3335731"/>
            <a:ext cx="171907" cy="171907"/>
          </a:xfrm>
          <a:prstGeom prst="rect">
            <a:avLst/>
          </a:prstGeom>
        </p:spPr>
      </p:pic>
      <p:pic>
        <p:nvPicPr>
          <p:cNvPr id="79" name="Image 55" descr="preencoded.png"/>
          <p:cNvPicPr>
            <a:picLocks noChangeAspect="1"/>
          </p:cNvPicPr>
          <p:nvPr/>
        </p:nvPicPr>
        <p:blipFill>
          <a:blip r:embed="rId26"/>
          <a:srcRect t="-299" b="-299"/>
          <a:stretch/>
        </p:blipFill>
        <p:spPr>
          <a:xfrm>
            <a:off x="8428025" y="4038905"/>
            <a:ext cx="152705" cy="38405"/>
          </a:xfrm>
          <a:prstGeom prst="rect">
            <a:avLst/>
          </a:prstGeom>
        </p:spPr>
      </p:pic>
      <p:pic>
        <p:nvPicPr>
          <p:cNvPr id="80" name="Image 56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361274" y="3676802"/>
            <a:ext cx="404165" cy="404165"/>
          </a:xfrm>
          <a:prstGeom prst="rect">
            <a:avLst/>
          </a:prstGeom>
        </p:spPr>
      </p:pic>
      <p:pic>
        <p:nvPicPr>
          <p:cNvPr id="81" name="Image 57" descr="preencoded.png"/>
          <p:cNvPicPr>
            <a:picLocks noChangeAspect="1"/>
          </p:cNvPicPr>
          <p:nvPr/>
        </p:nvPicPr>
        <p:blipFill>
          <a:blip r:embed="rId30"/>
          <a:srcRect t="-6250" b="-6250"/>
          <a:stretch/>
        </p:blipFill>
        <p:spPr>
          <a:xfrm>
            <a:off x="8403336" y="3718865"/>
            <a:ext cx="209398" cy="209398"/>
          </a:xfrm>
          <a:prstGeom prst="rect">
            <a:avLst/>
          </a:prstGeom>
        </p:spPr>
      </p:pic>
      <p:pic>
        <p:nvPicPr>
          <p:cNvPr id="82" name="Image 58" descr="preencoded.png"/>
          <p:cNvPicPr>
            <a:picLocks noChangeAspect="1"/>
          </p:cNvPicPr>
          <p:nvPr/>
        </p:nvPicPr>
        <p:blipFill>
          <a:blip r:embed="rId26"/>
          <a:srcRect t="-299" b="-299"/>
          <a:stretch/>
        </p:blipFill>
        <p:spPr>
          <a:xfrm>
            <a:off x="6989674" y="4362602"/>
            <a:ext cx="152705" cy="38405"/>
          </a:xfrm>
          <a:prstGeom prst="rect">
            <a:avLst/>
          </a:prstGeom>
        </p:spPr>
      </p:pic>
      <p:pic>
        <p:nvPicPr>
          <p:cNvPr id="83" name="Image 59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6922922" y="4000500"/>
            <a:ext cx="404165" cy="404165"/>
          </a:xfrm>
          <a:prstGeom prst="rect">
            <a:avLst/>
          </a:prstGeom>
        </p:spPr>
      </p:pic>
      <p:pic>
        <p:nvPicPr>
          <p:cNvPr id="84" name="Image 60" descr="preencoded.png"/>
          <p:cNvPicPr>
            <a:picLocks noChangeAspect="1"/>
          </p:cNvPicPr>
          <p:nvPr/>
        </p:nvPicPr>
        <p:blipFill>
          <a:blip r:embed="rId32"/>
          <a:srcRect l="-7143" r="-7143"/>
          <a:stretch/>
        </p:blipFill>
        <p:spPr>
          <a:xfrm>
            <a:off x="6978701" y="4055364"/>
            <a:ext cx="181051" cy="181051"/>
          </a:xfrm>
          <a:prstGeom prst="rect">
            <a:avLst/>
          </a:prstGeom>
        </p:spPr>
      </p:pic>
      <p:sp>
        <p:nvSpPr>
          <p:cNvPr id="85" name="Shape 22"/>
          <p:cNvSpPr/>
          <p:nvPr/>
        </p:nvSpPr>
        <p:spPr>
          <a:xfrm>
            <a:off x="8018374" y="2903220"/>
            <a:ext cx="961949" cy="609905"/>
          </a:xfrm>
          <a:prstGeom prst="roundRect">
            <a:avLst>
              <a:gd name="adj" fmla="val 1405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Text 23"/>
          <p:cNvSpPr txBox="1"/>
          <p:nvPr/>
        </p:nvSpPr>
        <p:spPr>
          <a:xfrm>
            <a:off x="8161020" y="3008376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다봉타워</a:t>
            </a:r>
            <a:endParaRPr lang="en-US" sz="1000" dirty="0"/>
          </a:p>
        </p:txBody>
      </p:sp>
      <p:sp>
        <p:nvSpPr>
          <p:cNvPr id="87" name="Text 24"/>
          <p:cNvSpPr txBox="1"/>
          <p:nvPr/>
        </p:nvSpPr>
        <p:spPr>
          <a:xfrm>
            <a:off x="8161020" y="3223260"/>
            <a:ext cx="780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매각대상 물건</a:t>
            </a:r>
            <a:endParaRPr lang="en-US" sz="900" dirty="0"/>
          </a:p>
        </p:txBody>
      </p:sp>
      <p:sp>
        <p:nvSpPr>
          <p:cNvPr id="88" name="Shape 25"/>
          <p:cNvSpPr/>
          <p:nvPr/>
        </p:nvSpPr>
        <p:spPr>
          <a:xfrm>
            <a:off x="8418881" y="3400654"/>
            <a:ext cx="161849" cy="161849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26"/>
          <p:cNvSpPr txBox="1"/>
          <p:nvPr/>
        </p:nvSpPr>
        <p:spPr>
          <a:xfrm>
            <a:off x="8772754" y="2922422"/>
            <a:ext cx="191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×</a:t>
            </a:r>
            <a:endParaRPr lang="en-US" sz="1200" dirty="0"/>
          </a:p>
        </p:txBody>
      </p:sp>
      <p:sp>
        <p:nvSpPr>
          <p:cNvPr id="90" name="Shape 27"/>
          <p:cNvSpPr/>
          <p:nvPr/>
        </p:nvSpPr>
        <p:spPr>
          <a:xfrm>
            <a:off x="5589727" y="5505602"/>
            <a:ext cx="1543507" cy="1104595"/>
          </a:xfrm>
          <a:prstGeom prst="roundRect">
            <a:avLst>
              <a:gd name="adj" fmla="val 570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BD5E1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1" name="Image 61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5789981" y="5695798"/>
            <a:ext cx="114300" cy="114300"/>
          </a:xfrm>
          <a:prstGeom prst="rect">
            <a:avLst/>
          </a:prstGeom>
        </p:spPr>
      </p:pic>
      <p:sp>
        <p:nvSpPr>
          <p:cNvPr id="92" name="Text 28"/>
          <p:cNvSpPr txBox="1"/>
          <p:nvPr/>
        </p:nvSpPr>
        <p:spPr>
          <a:xfrm>
            <a:off x="5980176" y="5658307"/>
            <a:ext cx="1078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다봉타워 (본건)</a:t>
            </a:r>
            <a:endParaRPr lang="en-US" sz="1000" dirty="0"/>
          </a:p>
        </p:txBody>
      </p:sp>
      <p:sp>
        <p:nvSpPr>
          <p:cNvPr id="93" name="Shape 29"/>
          <p:cNvSpPr/>
          <p:nvPr/>
        </p:nvSpPr>
        <p:spPr>
          <a:xfrm>
            <a:off x="5789981" y="6001207"/>
            <a:ext cx="114300" cy="1143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30"/>
          <p:cNvSpPr txBox="1"/>
          <p:nvPr/>
        </p:nvSpPr>
        <p:spPr>
          <a:xfrm>
            <a:off x="5980176" y="5962802"/>
            <a:ext cx="11329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역세권/시설</a:t>
            </a:r>
            <a:endParaRPr lang="en-US" sz="1000" dirty="0"/>
          </a:p>
        </p:txBody>
      </p:sp>
      <p:sp>
        <p:nvSpPr>
          <p:cNvPr id="95" name="Shape 31"/>
          <p:cNvSpPr/>
          <p:nvPr/>
        </p:nvSpPr>
        <p:spPr>
          <a:xfrm>
            <a:off x="5789981" y="6286500"/>
            <a:ext cx="152705" cy="152705"/>
          </a:xfrm>
          <a:prstGeom prst="ellipse">
            <a:avLst/>
          </a:prstGeom>
          <a:solidFill>
            <a:srgbClr val="FEF3C7">
              <a:alpha val="5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6" name="Text 32"/>
          <p:cNvSpPr txBox="1"/>
          <p:nvPr/>
        </p:nvSpPr>
        <p:spPr>
          <a:xfrm>
            <a:off x="6018581" y="6267298"/>
            <a:ext cx="9418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도보 3분 반경</a:t>
            </a:r>
            <a:endParaRPr lang="en-US" sz="1000" dirty="0"/>
          </a:p>
        </p:txBody>
      </p:sp>
      <p:sp>
        <p:nvSpPr>
          <p:cNvPr id="97" name="Shape 33"/>
          <p:cNvSpPr/>
          <p:nvPr/>
        </p:nvSpPr>
        <p:spPr>
          <a:xfrm>
            <a:off x="0" y="7191756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98" name="Image 62" descr="preencoded.png"/>
          <p:cNvPicPr>
            <a:picLocks noChangeAspect="1"/>
          </p:cNvPicPr>
          <p:nvPr/>
        </p:nvPicPr>
        <p:blipFill>
          <a:blip r:embed="rId34"/>
          <a:srcRect l="-133" r="-133"/>
          <a:stretch/>
        </p:blipFill>
        <p:spPr>
          <a:xfrm>
            <a:off x="457200" y="7334402"/>
            <a:ext cx="85954" cy="114300"/>
          </a:xfrm>
          <a:prstGeom prst="rect">
            <a:avLst/>
          </a:prstGeom>
        </p:spPr>
      </p:pic>
      <p:sp>
        <p:nvSpPr>
          <p:cNvPr id="99" name="Text 34"/>
          <p:cNvSpPr txBox="1"/>
          <p:nvPr/>
        </p:nvSpPr>
        <p:spPr>
          <a:xfrm>
            <a:off x="619049" y="7315200"/>
            <a:ext cx="24377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강남구 대치동 890-12 (테헤란로 418)</a:t>
            </a:r>
            <a:endParaRPr lang="en-US" sz="900" dirty="0"/>
          </a:p>
        </p:txBody>
      </p:sp>
      <p:sp>
        <p:nvSpPr>
          <p:cNvPr id="100" name="Text 35"/>
          <p:cNvSpPr txBox="1"/>
          <p:nvPr/>
        </p:nvSpPr>
        <p:spPr>
          <a:xfrm>
            <a:off x="11254435" y="7315200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FA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PAGE 06</a:t>
            </a:r>
            <a:endParaRPr lang="en-US" sz="900" dirty="0"/>
          </a:p>
        </p:txBody>
      </p:sp>
      <p:pic>
        <p:nvPicPr>
          <p:cNvPr id="101" name="Image 63" descr="preencoded.png"/>
          <p:cNvPicPr>
            <a:picLocks noChangeAspect="1"/>
          </p:cNvPicPr>
          <p:nvPr/>
        </p:nvPicPr>
        <p:blipFill>
          <a:blip r:embed="rId35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314907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695" y="476402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투자 포인트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743407"/>
            <a:ext cx="355701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투자 포인트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0723169" y="857707"/>
            <a:ext cx="715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다봉타워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1695" y="1705356"/>
            <a:ext cx="3372307" cy="4457700"/>
          </a:xfrm>
          <a:prstGeom prst="roundRect">
            <a:avLst>
              <a:gd name="adj" fmla="val 91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95" y="1705356"/>
            <a:ext cx="3346704" cy="38405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22015" y="1904695"/>
            <a:ext cx="7580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D4AF37">
                    <a:alpha val="2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1057046" y="2000707"/>
            <a:ext cx="666598" cy="666598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8156" y="2190902"/>
            <a:ext cx="286207" cy="2862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57046" y="2905049"/>
            <a:ext cx="495605" cy="286207"/>
          </a:xfrm>
          <a:prstGeom prst="rect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2000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4A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57046" y="3329330"/>
            <a:ext cx="2867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초역세권 + 테헤란로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황금입지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57046" y="4157777"/>
            <a:ext cx="2857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선릉역 도보 3분 초역세권과 테헤란로 대로변의 탁월한 입지 조건.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강남권역(GBD) 내에서도 가장 선호도 높은 테헤란로 중심축에 위치하여 가시성, 접근성, 기업 브랜딩 효과를 동시에 확보한 프리미엄 자산입니다. 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12894" y="1705356"/>
            <a:ext cx="3372307" cy="4457700"/>
          </a:xfrm>
          <a:prstGeom prst="roundRect">
            <a:avLst>
              <a:gd name="adj" fmla="val 91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12894" y="1705356"/>
            <a:ext cx="3346704" cy="38405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00062" y="1904695"/>
            <a:ext cx="7644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D4AF37">
                    <a:alpha val="2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4500" dirty="0"/>
          </a:p>
        </p:txBody>
      </p:sp>
      <p:sp>
        <p:nvSpPr>
          <p:cNvPr id="21" name="Shape 18"/>
          <p:cNvSpPr/>
          <p:nvPr/>
        </p:nvSpPr>
        <p:spPr>
          <a:xfrm>
            <a:off x="4708246" y="2000707"/>
            <a:ext cx="666598" cy="666598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9355" y="2190902"/>
            <a:ext cx="286207" cy="28620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708246" y="2905049"/>
            <a:ext cx="609905" cy="286207"/>
          </a:xfrm>
          <a:prstGeom prst="rect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2000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4A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4708246" y="3329330"/>
            <a:ext cx="2867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안정적 임대운영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(공실률 5% 미만)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4708246" y="4157777"/>
            <a:ext cx="2857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우량 임차인 위주의 구성과 낮은 공실률로 안정적인 현금흐름 창출.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주변 오피스 수요가 꾸준히 증가하는 지역으로, 경기 변동에도 임대료 방어력이 우수하며 지속적인 임대 수익 확보가 가능합니다. 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064094" y="1705356"/>
            <a:ext cx="3372307" cy="4457700"/>
          </a:xfrm>
          <a:prstGeom prst="roundRect">
            <a:avLst>
              <a:gd name="adj" fmla="val 91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64094" y="1705356"/>
            <a:ext cx="3346704" cy="38405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552176" y="1904695"/>
            <a:ext cx="7644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D4AF37">
                    <a:alpha val="2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4500" dirty="0"/>
          </a:p>
        </p:txBody>
      </p:sp>
      <p:sp>
        <p:nvSpPr>
          <p:cNvPr id="29" name="Shape 25"/>
          <p:cNvSpPr/>
          <p:nvPr/>
        </p:nvSpPr>
        <p:spPr>
          <a:xfrm>
            <a:off x="8359445" y="2000707"/>
            <a:ext cx="666598" cy="666598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50554" y="2190902"/>
            <a:ext cx="286207" cy="28620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359445" y="2905049"/>
            <a:ext cx="609905" cy="286207"/>
          </a:xfrm>
          <a:prstGeom prst="rect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2000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4A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성장성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8359445" y="3329330"/>
            <a:ext cx="2867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개발 호재 수혜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(GBC 파급효과)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8359445" y="4157777"/>
            <a:ext cx="2857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현대차 GBC 건립 및 국제교류복합지구 조성 사업의 직접적인 수혜 지역.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삼성역-선릉역 일대의 대규모 개발 계획이 진행됨에 따라 향후 지가 상승 및 자산 가치 증대 가능성이 매우 높은 투자처입니다. 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0" y="6825996"/>
            <a:ext cx="121916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57200" y="6987845"/>
            <a:ext cx="9701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투자 포인트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1296498" y="6987845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04</a:t>
            </a:r>
            <a:endParaRPr lang="en-US" sz="9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" y="1314907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1695" y="476402"/>
            <a:ext cx="2724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분석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743407"/>
            <a:ext cx="355701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투자 유형별 분석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9522562" y="857707"/>
            <a:ext cx="191566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활용 방안 제안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1609344"/>
            <a:ext cx="5143500" cy="5676595"/>
          </a:xfrm>
          <a:prstGeom prst="roundRect">
            <a:avLst>
              <a:gd name="adj" fmla="val 395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754" y="1619402"/>
            <a:ext cx="5124298" cy="1095451"/>
          </a:xfrm>
          <a:prstGeom prst="roundRect">
            <a:avLst>
              <a:gd name="adj" fmla="val 8710"/>
            </a:avLst>
          </a:prstGeom>
          <a:solidFill>
            <a:srgbClr val="0F172A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1754" y="2705710"/>
            <a:ext cx="5124298" cy="9144"/>
          </a:xfrm>
          <a:prstGeom prst="roundRect">
            <a:avLst>
              <a:gd name="adj" fmla="val 104347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498" y="1923898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162202" y="2048256"/>
            <a:ext cx="171907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28546" y="2162556"/>
            <a:ext cx="13661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 사옥용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046" y="3133649"/>
            <a:ext cx="15270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24051" y="3095244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브랜드 이미지 제고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324051" y="3400654"/>
            <a:ext cx="4362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테헤란로 대로변이라는 상징적 주소와 뛰어난 가시성을 통해 기업의 신뢰도와 브랜드 가치를 높일 수 있는 최적의 입지입니다.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046" y="4062679"/>
            <a:ext cx="15270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4051" y="4024274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 공간 활용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324051" y="4328770"/>
            <a:ext cx="4362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기준층 전용면적의 높은 공간 효율성과 가변적인 평면 구성으로 부서간 협업에 유리하며, 쾌적한 업무 환경을 제공합니다.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57046" y="4990795"/>
            <a:ext cx="152705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4051" y="4953305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인재 확보 유리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324051" y="5257800"/>
            <a:ext cx="4362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선릉역 초역세권의 편리한 교통 환경은 임직원 출퇴근 만족도를 높여 우수 인재 채용 및 유지에 긍정적입니다.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057046" y="6062472"/>
            <a:ext cx="4552798" cy="923544"/>
          </a:xfrm>
          <a:prstGeom prst="roundRect">
            <a:avLst>
              <a:gd name="adj" fmla="val 816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257300" y="6262726"/>
            <a:ext cx="43434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업종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257300" y="6538874"/>
            <a:ext cx="657454" cy="247802"/>
          </a:xfrm>
          <a:prstGeom prst="rect">
            <a:avLst/>
          </a:prstGeom>
          <a:solidFill>
            <a:srgbClr val="1E3A8A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/ 테크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926641" y="6538874"/>
            <a:ext cx="762610" cy="247802"/>
          </a:xfrm>
          <a:prstGeom prst="rect">
            <a:avLst/>
          </a:prstGeom>
          <a:solidFill>
            <a:srgbClr val="1E3A8A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 / 투자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2703881" y="6538874"/>
            <a:ext cx="553212" cy="247802"/>
          </a:xfrm>
          <a:prstGeom prst="rect">
            <a:avLst/>
          </a:prstGeom>
          <a:solidFill>
            <a:srgbClr val="1E3A8A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컨설팅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286500" y="1609344"/>
            <a:ext cx="5143500" cy="5676595"/>
          </a:xfrm>
          <a:prstGeom prst="roundRect">
            <a:avLst>
              <a:gd name="adj" fmla="val 395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295644" y="1619402"/>
            <a:ext cx="5124298" cy="1095451"/>
          </a:xfrm>
          <a:prstGeom prst="roundRect">
            <a:avLst>
              <a:gd name="adj" fmla="val 8710"/>
            </a:avLst>
          </a:prstGeom>
          <a:solidFill>
            <a:srgbClr val="0F172A">
              <a:alpha val="3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6295644" y="2705710"/>
            <a:ext cx="5124298" cy="9144"/>
          </a:xfrm>
          <a:prstGeom prst="roundRect">
            <a:avLst>
              <a:gd name="adj" fmla="val 104347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534302" y="1923898"/>
            <a:ext cx="476402" cy="476402"/>
          </a:xfrm>
          <a:prstGeom prst="roundRect">
            <a:avLst>
              <a:gd name="adj" fmla="val 30710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57746" y="2048256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153351" y="2162556"/>
            <a:ext cx="13661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수익용</a:t>
            </a:r>
            <a:endParaRPr lang="en-US" sz="18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81851" y="3133649"/>
            <a:ext cx="152705" cy="15270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848856" y="3095244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임대 수익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6848856" y="3400654"/>
            <a:ext cx="4362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강남권역의 낮은 공실률과 풍부한 임차 수요를 바탕으로 공실 리스크를 최소화하며 안정적인 현금 흐름을 창출합니다.</a:t>
            </a:r>
            <a:endParaRPr lang="en-US" sz="10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81851" y="4062679"/>
            <a:ext cx="152705" cy="1527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848856" y="4024274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 가치 상승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6848856" y="4328770"/>
            <a:ext cx="4362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현대차 GBC 및 국제교류복합지구 개발 등 대형 호재의 직접적인 수혜지로 중장기적 자산 가치 상승 여력이 충분합니다.</a:t>
            </a:r>
            <a:endParaRPr lang="en-US" sz="10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81851" y="4990795"/>
            <a:ext cx="152705" cy="15270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48856" y="4953305"/>
            <a:ext cx="4476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인플레이션 헷지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6848856" y="5257800"/>
            <a:ext cx="4362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실물 자산으로서 물가 상승에 따른 임대료 인상이 가능하여 인플레이션 헷지 수단으로 탁월한 투자처입니다.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581851" y="5881421"/>
            <a:ext cx="4552798" cy="1104595"/>
          </a:xfrm>
          <a:prstGeom prst="roundRect">
            <a:avLst>
              <a:gd name="adj" fmla="val 5709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782105" y="6081674"/>
            <a:ext cx="1436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임대수익 (예상)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6782105" y="6329477"/>
            <a:ext cx="1228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92</a:t>
            </a:r>
            <a:r>
              <a:rPr lang="en-US" sz="1200" b="1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억원</a:t>
            </a:r>
            <a:endParaRPr lang="en-US" sz="2400" dirty="0"/>
          </a:p>
        </p:txBody>
      </p:sp>
      <p:sp>
        <p:nvSpPr>
          <p:cNvPr id="47" name="Shape 37"/>
          <p:cNvSpPr/>
          <p:nvPr/>
        </p:nvSpPr>
        <p:spPr>
          <a:xfrm>
            <a:off x="9757562" y="6081674"/>
            <a:ext cx="9144" cy="70500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9995306" y="6081674"/>
            <a:ext cx="1122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 Rate (추정)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9995306" y="6329477"/>
            <a:ext cx="1019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3.3</a:t>
            </a:r>
            <a:r>
              <a:rPr lang="en-US" sz="1200" b="1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400" dirty="0"/>
          </a:p>
        </p:txBody>
      </p:sp>
      <p:sp>
        <p:nvSpPr>
          <p:cNvPr id="50" name="Shape 40"/>
          <p:cNvSpPr/>
          <p:nvPr/>
        </p:nvSpPr>
        <p:spPr>
          <a:xfrm>
            <a:off x="1628546" y="1867205"/>
            <a:ext cx="476402" cy="247802"/>
          </a:xfrm>
          <a:prstGeom prst="roundRect">
            <a:avLst>
              <a:gd name="adj" fmla="val 56770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1628546" y="1867205"/>
            <a:ext cx="5340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 A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7153351" y="1867205"/>
            <a:ext cx="476402" cy="247802"/>
          </a:xfrm>
          <a:prstGeom prst="roundRect">
            <a:avLst>
              <a:gd name="adj" fmla="val 56770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7153351" y="1867205"/>
            <a:ext cx="5340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 B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0" y="7757770"/>
            <a:ext cx="121916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457200" y="7919618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INVESTMENT HIGHLIGHTS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11296498" y="7919618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05</a:t>
            </a:r>
            <a:endParaRPr lang="en-US" sz="900" dirty="0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7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305" y="0"/>
            <a:ext cx="6096305" cy="6858000"/>
          </a:xfrm>
          <a:custGeom>
            <a:avLst/>
            <a:gdLst/>
            <a:ahLst/>
            <a:cxnLst/>
            <a:rect l="l" t="t" r="r" b="b"/>
            <a:pathLst>
              <a:path w="6096305" h="6858000">
                <a:moveTo>
                  <a:pt x="1219261" y="0"/>
                </a:moveTo>
                <a:lnTo>
                  <a:pt x="6096305" y="0"/>
                </a:lnTo>
                <a:lnTo>
                  <a:pt x="6096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E293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1314907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695" y="476402"/>
            <a:ext cx="3676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 분석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743407"/>
            <a:ext cx="47914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수익률 분석 (시나리오)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9976104" y="857707"/>
            <a:ext cx="1453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수익성 검토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1695" y="1609344"/>
            <a:ext cx="3429000" cy="857707"/>
          </a:xfrm>
          <a:prstGeom prst="roundRect">
            <a:avLst>
              <a:gd name="adj" fmla="val 9476"/>
            </a:avLst>
          </a:prstGeom>
          <a:solidFill>
            <a:srgbClr val="1E293B">
              <a:alpha val="80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1949" y="1923898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매입가 (가정)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23667" y="1809598"/>
            <a:ext cx="1394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4AF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2,190</a:t>
            </a:r>
            <a:r>
              <a:rPr lang="en-US" sz="1300" b="1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억원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381805" y="1609344"/>
            <a:ext cx="3429000" cy="857707"/>
          </a:xfrm>
          <a:prstGeom prst="roundRect">
            <a:avLst>
              <a:gd name="adj" fmla="val 9476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81144" y="192389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순영업이익 (NOI)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43116" y="1809598"/>
            <a:ext cx="1156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73</a:t>
            </a:r>
            <a:r>
              <a:rPr lang="en-US" sz="1300" b="1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억원/년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01000" y="1609344"/>
            <a:ext cx="3429000" cy="857707"/>
          </a:xfrm>
          <a:prstGeom prst="roundRect">
            <a:avLst>
              <a:gd name="adj" fmla="val 9476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01254" y="1923898"/>
            <a:ext cx="179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자본환원율 (CAP Rate)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378440" y="1809598"/>
            <a:ext cx="1020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3.33</a:t>
            </a:r>
            <a:r>
              <a:rPr lang="en-US" sz="1300" b="1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61695" y="2752344"/>
            <a:ext cx="10668305" cy="3838651"/>
          </a:xfrm>
          <a:prstGeom prst="roundRect">
            <a:avLst>
              <a:gd name="adj" fmla="val 709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1754" y="2762402"/>
          <a:ext cx="10649102" cy="3820363"/>
        </p:xfrm>
        <a:graphic>
          <a:graphicData uri="http://schemas.openxmlformats.org/drawingml/2006/table">
            <a:tbl>
              <a:tblPr/>
              <a:tblGrid>
                <a:gridCol w="2661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2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2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2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67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237744" marB="23774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 보수적 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LTV 40%</a:t>
                      </a:r>
                      <a:endParaRPr lang="en-US" sz="1200" dirty="0"/>
                    </a:p>
                  </a:txBody>
                  <a:tcPr marL="237744" marR="237744" marT="237744" marB="23774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4AF37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 중립적 (Base) 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LTV 50%</a:t>
                      </a:r>
                      <a:endParaRPr lang="en-US" sz="1200" dirty="0"/>
                    </a:p>
                  </a:txBody>
                  <a:tcPr marL="237744" marR="237744" marT="237744" marB="23774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 적극적 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LTV 60%</a:t>
                      </a:r>
                      <a:endParaRPr lang="en-US" sz="1200" dirty="0"/>
                    </a:p>
                  </a:txBody>
                  <a:tcPr marL="237744" marR="237744" marT="237744" marB="23774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대출금액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876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1,095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1,314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자기자본 (Equity)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1,314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1,095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876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연간 이자비용 (5.5%)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-48.2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-60.2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-72.3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세전 현금흐름 (BTCF)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24.8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12.8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0.7 억원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자기자본수익률 (COC)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1.89%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1.17%</a:t>
                      </a:r>
                      <a:endParaRPr lang="en-US" sz="16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CBD5E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0.08%</a:t>
                      </a:r>
                      <a:endParaRPr lang="en-US" sz="13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37744" marR="237744" marT="142646" marB="14264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61695" y="6782105"/>
            <a:ext cx="10668305" cy="886054"/>
          </a:xfrm>
          <a:prstGeom prst="roundRect">
            <a:avLst>
              <a:gd name="adj" fmla="val 4439"/>
            </a:avLst>
          </a:prstGeom>
          <a:solidFill>
            <a:srgbClr val="D4AF37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61695" y="6782105"/>
            <a:ext cx="28346" cy="886054"/>
          </a:xfrm>
          <a:prstGeom prst="roundRect">
            <a:avLst>
              <a:gd name="adj" fmla="val 138746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602" y="6963156"/>
            <a:ext cx="152705" cy="15270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200607" y="6924751"/>
            <a:ext cx="6430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금리 변동성 및 수익률 민감도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200607" y="7153351"/>
            <a:ext cx="6315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※ 상기 분석은 연 대출금리 5.5%를 가정한 수치입니다. 향후 금리 인하 시 레버리지 효과로 인한 수익률 개선이 가능합니다.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※ NOI(순영업이익)는 만실 기준 추정치이며, 실제 운영 상황에 따라 변동될 수 있습니다. (관리비 및 제세공과금 포함된 순수익 기준) 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3659429" y="1971446"/>
            <a:ext cx="4096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억원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050938" y="1971446"/>
            <a:ext cx="6419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억원/년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1071555" y="1971446"/>
            <a:ext cx="2386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0" y="8143646"/>
            <a:ext cx="121916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57200" y="8305495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INVESTMENT HIGHLIGHTS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1296498" y="8305495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06</a:t>
            </a:r>
            <a:endParaRPr lang="en-US" sz="9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695" y="1314907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1695" y="476402"/>
            <a:ext cx="2376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제안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743407"/>
            <a:ext cx="311353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매각 제안 요약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10158070" y="857707"/>
            <a:ext cx="127741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제안 사항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3497580"/>
            <a:ext cx="38405" cy="267005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5995" y="3497580"/>
            <a:ext cx="107442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투자 포인트 요약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1695" y="3993185"/>
            <a:ext cx="2523744" cy="2210105"/>
          </a:xfrm>
          <a:prstGeom prst="roundRect">
            <a:avLst>
              <a:gd name="adj" fmla="val 142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8274" y="4240987"/>
            <a:ext cx="571500" cy="5715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923898" y="4411980"/>
            <a:ext cx="200254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09421" y="5002682"/>
            <a:ext cx="14365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선릉역 도보 3분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206094" y="5354726"/>
            <a:ext cx="164500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2호선·분당선 더블 역세권의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탁월한 교통 접근성과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풍부한 유동인구 확보 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6549" y="3993185"/>
            <a:ext cx="2523744" cy="2210105"/>
          </a:xfrm>
          <a:prstGeom prst="roundRect">
            <a:avLst>
              <a:gd name="adj" fmla="val 142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53128" y="4240987"/>
            <a:ext cx="571500" cy="5715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4610405" y="4411980"/>
            <a:ext cx="256946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044391" y="5002682"/>
            <a:ext cx="13944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테헤란로 대로변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3978554" y="5354726"/>
            <a:ext cx="152613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대한민국 비즈니스 중심축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테헤란로 50m 대로변의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독보적인 가시성 및 상징성 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91402" y="3993185"/>
            <a:ext cx="2523744" cy="2210105"/>
          </a:xfrm>
          <a:prstGeom prst="roundRect">
            <a:avLst>
              <a:gd name="adj" fmla="val 142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67982" y="4240987"/>
            <a:ext cx="571500" cy="5715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7324344" y="4411980"/>
            <a:ext cx="256946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701638" y="5002682"/>
            <a:ext cx="1505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안정적 자산 운용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693408" y="5354726"/>
            <a:ext cx="152613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우량 임차인 위주 구성과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낮은 공실률을 바탕으로 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안정적인 임대 수익 창출 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906256" y="3993185"/>
            <a:ext cx="2523744" cy="2210105"/>
          </a:xfrm>
          <a:prstGeom prst="roundRect">
            <a:avLst>
              <a:gd name="adj" fmla="val 142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881921" y="4240987"/>
            <a:ext cx="571500" cy="5715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0039198" y="4411980"/>
            <a:ext cx="256946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416491" y="5002682"/>
            <a:ext cx="15051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확실한 개발 호재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9206179" y="5354726"/>
            <a:ext cx="193212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현대차 GBC 및 국제교류복합지구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개발에 따른 직접 수혜지로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미래 자산 가치 상승 기대 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1609344"/>
            <a:ext cx="10668305" cy="1506931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761695" y="1609344"/>
            <a:ext cx="57607" cy="1487729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057046" y="1904695"/>
            <a:ext cx="19449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매각가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057046" y="2180844"/>
            <a:ext cx="284469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4AF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2,190</a:t>
            </a:r>
            <a:r>
              <a:rPr lang="en-US" sz="1500" b="1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억원</a:t>
            </a:r>
            <a:endParaRPr lang="en-US" sz="4200" dirty="0"/>
          </a:p>
        </p:txBody>
      </p:sp>
      <p:sp>
        <p:nvSpPr>
          <p:cNvPr id="35" name="Shape 28"/>
          <p:cNvSpPr/>
          <p:nvPr/>
        </p:nvSpPr>
        <p:spPr>
          <a:xfrm>
            <a:off x="5364785" y="2358238"/>
            <a:ext cx="91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886700" y="2000707"/>
            <a:ext cx="18946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평당 단가 (연면적 기준)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795053" y="1971446"/>
            <a:ext cx="1407262" cy="33375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주변 시세 대비 저평가 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9651492" y="2072030"/>
            <a:ext cx="105156" cy="13350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886700" y="2343607"/>
            <a:ext cx="34390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5,200</a:t>
            </a:r>
            <a:r>
              <a:rPr lang="en-US" sz="1500" b="1" dirty="0">
                <a:solidFill>
                  <a:srgbClr val="CBD5E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만원/평</a:t>
            </a:r>
            <a:endParaRPr lang="en-US" sz="2700" dirty="0"/>
          </a:p>
        </p:txBody>
      </p:sp>
      <p:sp>
        <p:nvSpPr>
          <p:cNvPr id="40" name="Shape 32"/>
          <p:cNvSpPr/>
          <p:nvPr/>
        </p:nvSpPr>
        <p:spPr>
          <a:xfrm>
            <a:off x="0" y="6678778"/>
            <a:ext cx="121916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457200" y="6840626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INVESTMENT HIGHLIGHTS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1296498" y="6840626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07</a:t>
            </a:r>
            <a:endParaRPr lang="en-US" sz="9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29500" y="2095805"/>
            <a:ext cx="5715000" cy="5715000"/>
          </a:xfrm>
          <a:prstGeom prst="ellipse">
            <a:avLst/>
          </a:prstGeom>
          <a:solidFill>
            <a:srgbClr val="1E293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314907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695" y="476402"/>
            <a:ext cx="2027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문의처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743407"/>
            <a:ext cx="267004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문의 및 첨부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9415577" y="857707"/>
            <a:ext cx="202265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자료 요청 및 상담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4194" y="1705356"/>
            <a:ext cx="373349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이음프로퍼티 부동산중개법인</a:t>
            </a:r>
            <a:endParaRPr lang="en-US" sz="2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2165" b="-2165"/>
          <a:stretch/>
        </p:blipFill>
        <p:spPr>
          <a:xfrm>
            <a:off x="7035394" y="1762049"/>
            <a:ext cx="9144" cy="2862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330745" y="1705356"/>
            <a:ext cx="15627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KB INVEST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61695" y="5867705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1949" y="6115507"/>
            <a:ext cx="105823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 가능 자료 (Documents Available)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1695" y="6458407"/>
            <a:ext cx="1666951" cy="400507"/>
          </a:xfrm>
          <a:prstGeom prst="roundRect">
            <a:avLst>
              <a:gd name="adj" fmla="val 326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6589166"/>
            <a:ext cx="133502" cy="1335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23798" y="6458407"/>
            <a:ext cx="629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건축물대장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563978" y="6458407"/>
            <a:ext cx="1666951" cy="400507"/>
          </a:xfrm>
          <a:prstGeom prst="roundRect">
            <a:avLst>
              <a:gd name="adj" fmla="val 326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15768" y="6589166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926080" y="6458407"/>
            <a:ext cx="5148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토지대장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365346" y="6458407"/>
            <a:ext cx="1666951" cy="400507"/>
          </a:xfrm>
          <a:prstGeom prst="roundRect">
            <a:avLst>
              <a:gd name="adj" fmla="val 326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4518050" y="6589166"/>
            <a:ext cx="152705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746650" y="6458407"/>
            <a:ext cx="4005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지적도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167628" y="6458407"/>
            <a:ext cx="1666951" cy="400507"/>
          </a:xfrm>
          <a:prstGeom prst="roundRect">
            <a:avLst>
              <a:gd name="adj" fmla="val 326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6319418" y="6589166"/>
            <a:ext cx="105156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500470" y="6458407"/>
            <a:ext cx="7434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토지이용계획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7968996" y="6458407"/>
            <a:ext cx="1666951" cy="400507"/>
          </a:xfrm>
          <a:prstGeom prst="roundRect">
            <a:avLst>
              <a:gd name="adj" fmla="val 326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21701" y="6589166"/>
            <a:ext cx="133502" cy="1335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331098" y="6458407"/>
            <a:ext cx="629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임대현황표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9771278" y="6458407"/>
            <a:ext cx="1666951" cy="400507"/>
          </a:xfrm>
          <a:prstGeom prst="roundRect">
            <a:avLst>
              <a:gd name="adj" fmla="val 3261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9923069" y="6589166"/>
            <a:ext cx="105156" cy="1335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0104120" y="6458407"/>
            <a:ext cx="4005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위치도</a:t>
            </a:r>
            <a:endParaRPr lang="en-US" sz="9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761695" y="6151169"/>
            <a:ext cx="123444" cy="13350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86000" y="2581351"/>
            <a:ext cx="3619195" cy="3000146"/>
          </a:xfrm>
          <a:prstGeom prst="roundRect">
            <a:avLst>
              <a:gd name="adj" fmla="val 116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086454" y="2581351"/>
            <a:ext cx="3619195" cy="19202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3715207" y="2971800"/>
            <a:ext cx="761695" cy="761695"/>
          </a:xfrm>
          <a:prstGeom prst="ellipse">
            <a:avLst/>
          </a:prstGeom>
          <a:solidFill>
            <a:srgbClr val="D4AF37">
              <a:alpha val="10000"/>
            </a:srgbClr>
          </a:solidFill>
          <a:ln w="254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0"/>
          <a:srcRect l="-107" r="-107"/>
          <a:stretch/>
        </p:blipFill>
        <p:spPr>
          <a:xfrm>
            <a:off x="3962095" y="3200400"/>
            <a:ext cx="267005" cy="304495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3419856" y="3924605"/>
            <a:ext cx="1360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강병일 </a:t>
            </a:r>
            <a:r>
              <a:rPr lang="en-US" sz="13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이사</a:t>
            </a:r>
            <a:endParaRPr lang="en-US" sz="1800" dirty="0"/>
          </a:p>
        </p:txBody>
      </p:sp>
      <p:sp>
        <p:nvSpPr>
          <p:cNvPr id="39" name="Text 28"/>
          <p:cNvSpPr txBox="1"/>
          <p:nvPr/>
        </p:nvSpPr>
        <p:spPr>
          <a:xfrm>
            <a:off x="3012034" y="431505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부동산 자산관리 및 투자자문</a:t>
            </a:r>
            <a:endParaRPr lang="en-US" sz="1200" dirty="0"/>
          </a:p>
        </p:txBody>
      </p:sp>
      <p:sp>
        <p:nvSpPr>
          <p:cNvPr id="40" name="Text 29"/>
          <p:cNvSpPr txBox="1"/>
          <p:nvPr/>
        </p:nvSpPr>
        <p:spPr>
          <a:xfrm>
            <a:off x="3028493" y="4733849"/>
            <a:ext cx="2143354" cy="457200"/>
          </a:xfrm>
          <a:prstGeom prst="rect">
            <a:avLst/>
          </a:prstGeom>
          <a:solidFill>
            <a:srgbClr val="D4AF37">
              <a:alpha val="5000"/>
            </a:srgbClr>
          </a:solidFill>
          <a:ln w="12700">
            <a:solidFill>
              <a:srgbClr val="D4AF37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D4A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010-5342-5321 </a:t>
            </a:r>
            <a:endParaRPr lang="en-US" sz="15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1"/>
          <a:srcRect l="-3425" r="-3425"/>
          <a:stretch/>
        </p:blipFill>
        <p:spPr>
          <a:xfrm>
            <a:off x="3266237" y="4922215"/>
            <a:ext cx="142646" cy="133502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6286500" y="2581351"/>
            <a:ext cx="3619195" cy="3000146"/>
          </a:xfrm>
          <a:prstGeom prst="roundRect">
            <a:avLst>
              <a:gd name="adj" fmla="val 116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8086954" y="2581351"/>
            <a:ext cx="3619195" cy="19202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7715707" y="2971800"/>
            <a:ext cx="761695" cy="761695"/>
          </a:xfrm>
          <a:prstGeom prst="ellipse">
            <a:avLst/>
          </a:prstGeom>
          <a:solidFill>
            <a:srgbClr val="D4AF37">
              <a:alpha val="10000"/>
            </a:srgbClr>
          </a:solidFill>
          <a:ln w="254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2"/>
          <a:srcRect l="-107" r="-107"/>
          <a:stretch/>
        </p:blipFill>
        <p:spPr>
          <a:xfrm>
            <a:off x="7962595" y="3200400"/>
            <a:ext cx="267005" cy="304495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420356" y="3924605"/>
            <a:ext cx="13606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황의선 </a:t>
            </a:r>
            <a:r>
              <a:rPr lang="en-US" sz="13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차장</a:t>
            </a:r>
            <a:endParaRPr lang="en-US" sz="1800" dirty="0"/>
          </a:p>
        </p:txBody>
      </p:sp>
      <p:sp>
        <p:nvSpPr>
          <p:cNvPr id="47" name="Text 34"/>
          <p:cNvSpPr txBox="1"/>
          <p:nvPr/>
        </p:nvSpPr>
        <p:spPr>
          <a:xfrm>
            <a:off x="7012534" y="431505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상업용 부동산 매입매각 담당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7028993" y="4733849"/>
            <a:ext cx="2143354" cy="457200"/>
          </a:xfrm>
          <a:prstGeom prst="rect">
            <a:avLst/>
          </a:prstGeom>
          <a:solidFill>
            <a:srgbClr val="D4AF37">
              <a:alpha val="5000"/>
            </a:srgbClr>
          </a:solidFill>
          <a:ln w="12700">
            <a:solidFill>
              <a:srgbClr val="D4AF37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D4A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010-8332-4983 </a:t>
            </a:r>
            <a:endParaRPr lang="en-US" sz="15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1"/>
          <a:srcRect l="-3425" r="-3425"/>
          <a:stretch/>
        </p:blipFill>
        <p:spPr>
          <a:xfrm>
            <a:off x="7266737" y="4922215"/>
            <a:ext cx="142646" cy="133502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0" y="7329830"/>
            <a:ext cx="1219169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457200" y="7491679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INVESTMENT HIGHLIGHTS</a:t>
            </a:r>
            <a:endParaRPr lang="en-US" sz="900" dirty="0"/>
          </a:p>
        </p:txBody>
      </p:sp>
      <p:sp>
        <p:nvSpPr>
          <p:cNvPr id="52" name="Text 38"/>
          <p:cNvSpPr txBox="1"/>
          <p:nvPr/>
        </p:nvSpPr>
        <p:spPr>
          <a:xfrm>
            <a:off x="11296498" y="7491679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08</a:t>
            </a:r>
            <a:endParaRPr lang="en-US" sz="9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Office PowerPoint</Application>
  <PresentationFormat>와이드스크린</PresentationFormat>
  <Paragraphs>222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Noto Sans KR</vt:lpstr>
      <vt:lpstr>Noto Serif KR</vt:lpstr>
      <vt:lpstr>ui-monospace</vt:lpstr>
      <vt:lpstr>맑은 고딕</vt:lpstr>
      <vt:lpstr>Arial</vt:lpstr>
      <vt:lpstr>Calibri</vt:lpstr>
      <vt:lpstr>Tahoma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kbinvest</cp:lastModifiedBy>
  <cp:revision>1</cp:revision>
  <dcterms:created xsi:type="dcterms:W3CDTF">2026-02-02T05:57:10Z</dcterms:created>
  <dcterms:modified xsi:type="dcterms:W3CDTF">2026-02-02T07:04:10Z</dcterms:modified>
</cp:coreProperties>
</file>